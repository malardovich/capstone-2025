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obKu1pyDDrwUkvSb/6uCbR5e0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29A938-1503-4761-8088-E6A49122B0B5}">
  <a:tblStyle styleId="{2329A938-1503-4761-8088-E6A49122B0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840E4E5-54F7-46FB-879F-57860792AB4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7342b4b6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7342b4b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73063d5d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73063d5d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entre 3 y 4 estado del arte</a:t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sram mejoras continuas </a:t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metodología</a:t>
            </a:r>
            <a:r>
              <a:rPr lang="es-CL"/>
              <a:t> de trabajo es en cascada </a:t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9984b17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69984b17f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9a9c5e90d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metodología de trabajo es en cascada </a:t>
            </a:r>
            <a:endParaRPr/>
          </a:p>
        </p:txBody>
      </p:sp>
      <p:sp>
        <p:nvSpPr>
          <p:cNvPr id="193" name="Google Shape;193;g369a9c5e90d_5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b3b709a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metodología de trabajo es en cascada </a:t>
            </a:r>
            <a:endParaRPr/>
          </a:p>
        </p:txBody>
      </p:sp>
      <p:sp>
        <p:nvSpPr>
          <p:cNvPr id="203" name="Google Shape;203;g36b3b709a6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9a9c5e90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69a9c5e90d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9a9c5e90d_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69a9c5e90d_5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73278f25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73278f2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9a9c5e90d_5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9a9c5e90d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9a9c5e90d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9a9c5e90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9a9c5e90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9a9c5e90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solo logos </a:t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lista de logros no mas de 5 solo  cosas buenas </a:t>
            </a:r>
            <a:endParaRPr/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lecciones aprendidas todo conocimiento herramientas, datos entrenamiento, plazo.</a:t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research.google/blog/on-device-real-time-hand-tracking-with-mediapipe/" TargetMode="External"/><Relationship Id="rId10" Type="http://schemas.openxmlformats.org/officeDocument/2006/relationships/hyperlink" Target="https://es.linkedin.com/pulse/deep-learning-estimaci%C3%B3n-de-postura-la-mano-pardo-herrera" TargetMode="External"/><Relationship Id="rId13" Type="http://schemas.openxmlformats.org/officeDocument/2006/relationships/image" Target="../media/image8.jpg"/><Relationship Id="rId12" Type="http://schemas.openxmlformats.org/officeDocument/2006/relationships/hyperlink" Target="https://research.google/blog/on-device-real-time-hand-tracking-with-mediapipe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ed.uao.edu.co/entities/publication/b0d33a45-a852-439b-91a5-6062d57e4785" TargetMode="External"/><Relationship Id="rId4" Type="http://schemas.openxmlformats.org/officeDocument/2006/relationships/hyperlink" Target="https://red.uao.edu.co/entities/publication/b0d33a45-a852-439b-91a5-6062d57e4785" TargetMode="External"/><Relationship Id="rId9" Type="http://schemas.openxmlformats.org/officeDocument/2006/relationships/hyperlink" Target="https://es.linkedin.com/pulse/deep-learning-estimaci%C3%B3n-de-postura-la-mano-pardo-herrera" TargetMode="External"/><Relationship Id="rId5" Type="http://schemas.openxmlformats.org/officeDocument/2006/relationships/hyperlink" Target="https://red.uao.edu.co/entities/publication/b0d33a45-a852-439b-91a5-6062d57e4785" TargetMode="External"/><Relationship Id="rId6" Type="http://schemas.openxmlformats.org/officeDocument/2006/relationships/hyperlink" Target="https://repository.uaeh.edu.mx/revistas/index.php/xikua/article/view/12696/11487" TargetMode="External"/><Relationship Id="rId7" Type="http://schemas.openxmlformats.org/officeDocument/2006/relationships/hyperlink" Target="http://revistas.sena.edu.co/index.php/conciencia/article/download/3926/4602" TargetMode="External"/><Relationship Id="rId8" Type="http://schemas.openxmlformats.org/officeDocument/2006/relationships/hyperlink" Target="http://revistas.sena.edu.co/index.php/conciencia/article/download/3926/4602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377135" y="823654"/>
            <a:ext cx="7689766" cy="4396958"/>
            <a:chOff x="0" y="-65275"/>
            <a:chExt cx="7689766" cy="4396958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-6527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s-CL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Maximiliano Argomedo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87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87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-CL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del desarrollo del avatar, pruebas de interfaz, validaciones funcionales, mejoras continuas y apoyo en tareas de asesoramiento técnico.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522014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522014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s-CL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Alonso Fouilloux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87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-CL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Investigador principal del proyecto 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87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-CL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Supervisó hitos del proyecto, lideró su fase inicial y desarrolló propuestas de mejora mediante investigación continua.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7213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718865" y="2881573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s-CL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Williams Espinoza 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87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Arquitecto de sistema 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87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-CL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 la gestión de versiones en GitHub, abarcando tanto la documentación como el código fuente.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09319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68218" y="338811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374802" y="2981841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4" name="Google Shape;104;p2"/>
          <p:cNvGrpSpPr/>
          <p:nvPr/>
        </p:nvGrpSpPr>
        <p:grpSpPr>
          <a:xfrm>
            <a:off x="4320179" y="5169350"/>
            <a:ext cx="7633494" cy="1481100"/>
            <a:chOff x="2040926" y="4071434"/>
            <a:chExt cx="7633494" cy="1481100"/>
          </a:xfrm>
        </p:grpSpPr>
        <p:sp>
          <p:nvSpPr>
            <p:cNvPr id="105" name="Google Shape;105;p2"/>
            <p:cNvSpPr/>
            <p:nvPr/>
          </p:nvSpPr>
          <p:spPr>
            <a:xfrm>
              <a:off x="2040926" y="4192986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3816747" y="4071434"/>
              <a:ext cx="5819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s-CL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Valentina Gómez 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Jefa de grupo</a:t>
              </a:r>
              <a:endParaRPr sz="1100"/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s-CL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Encargada de la organización general del proyecto, abarcando la planificación, validación de documentos y el desarrollo del área de aseguramiento de calidad (QA).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4569302" y="5401434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18640" l="0" r="-2732" t="15353"/>
          <a:stretch/>
        </p:blipFill>
        <p:spPr>
          <a:xfrm>
            <a:off x="4794838" y="4036226"/>
            <a:ext cx="952149" cy="100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5">
            <a:alphaModFix/>
          </a:blip>
          <a:srcRect b="18990" l="0" r="1826" t="4772"/>
          <a:stretch/>
        </p:blipFill>
        <p:spPr>
          <a:xfrm>
            <a:off x="4863350" y="5441450"/>
            <a:ext cx="815125" cy="100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0537" y="2565213"/>
            <a:ext cx="1020775" cy="101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4850" y="1025675"/>
            <a:ext cx="952124" cy="10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0" y="1403675"/>
            <a:ext cx="577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6912079" y="217732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traducción en tiempo real de audio a lengua de señas chilena mediante inteligencia artificial, con avatar digital, que Canal 13 podrá integrar en sus plataformas, garantizando alta precisión y baja latencia, para promover la inclusión y accesibilidad de la comunidad sorda.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14300" y="319722"/>
            <a:ext cx="6094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 13 requiere cumplir la ley 21.303 para todos sus programas. Esto implica traducción a lenguaje de señas, lo cual limita la esc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alabilidad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eficiencia y autonomía de las plataformas e implica un costo significativo. Esta situación representa una barrera en los esfuerzos por mejorar la accesibilidad comunicacional y fomentar la inclusión de personas sordas en sus distintos canales y contenidos.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67342b4b6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775850" y="1278725"/>
            <a:ext cx="3423076" cy="256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67342b4b6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7425" y="1280525"/>
            <a:ext cx="3434499" cy="2565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67342b4b69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175" y="1278718"/>
            <a:ext cx="4025200" cy="537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67342b4b69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125" y="4071413"/>
            <a:ext cx="3434501" cy="258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67342b4b69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7425" y="4071425"/>
            <a:ext cx="3434500" cy="258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67342b4b69_0_0"/>
          <p:cNvSpPr txBox="1"/>
          <p:nvPr/>
        </p:nvSpPr>
        <p:spPr>
          <a:xfrm>
            <a:off x="309875" y="32328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fotográficas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visita canal 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3063d5d4_0_3"/>
          <p:cNvSpPr txBox="1"/>
          <p:nvPr>
            <p:ph idx="1" type="subTitle"/>
          </p:nvPr>
        </p:nvSpPr>
        <p:spPr>
          <a:xfrm>
            <a:off x="1358575" y="1870604"/>
            <a:ext cx="9309300" cy="455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200"/>
              <a:t>Rodríguez Lemos, J. P., &amp; Gómez Adrada, C. D. (s.f.). </a:t>
            </a:r>
            <a:r>
              <a:rPr i="1" lang="es-CL" sz="5200"/>
              <a:t>Prototipo de sistema traductor de lengua de señas colombiana mediante el uso de inteligencia artificial</a:t>
            </a:r>
            <a:r>
              <a:rPr lang="es-CL" sz="5200"/>
              <a:t>. Universidad Autónoma de Occidente. </a:t>
            </a:r>
            <a:r>
              <a:rPr lang="es-CL" sz="5200" u="sng">
                <a:solidFill>
                  <a:schemeClr val="hlink"/>
                </a:solidFill>
                <a:hlinkClick r:id="rId3"/>
              </a:rPr>
              <a:t>https://red.uao.edu.co/entities/publication/b0d33a45-a852-439b-91a5-6062d57e4785</a:t>
            </a:r>
            <a:endParaRPr sz="5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200"/>
              <a:t>Gómez, J. D., &amp; Suárez, L. A. (2021). </a:t>
            </a:r>
            <a:r>
              <a:rPr i="1" lang="es-CL" sz="5200"/>
              <a:t>Reconocimiento de lengua de señas colombiana mediante redes neuronales convolucionales y captura de movimiento</a:t>
            </a:r>
            <a:r>
              <a:rPr lang="es-CL" sz="5200"/>
              <a:t>. Revista Tecnura, 26(74), 70–84. </a:t>
            </a:r>
            <a:r>
              <a:rPr lang="es-CL" sz="5200" u="sng">
                <a:solidFill>
                  <a:schemeClr val="hlink"/>
                </a:solidFill>
                <a:hlinkClick r:id="rId4"/>
              </a:rPr>
              <a:t>http://www.scielo.org.co/pdf/tecn/v26n74/0123-921X-tecn-26-74-70.pdf</a:t>
            </a:r>
            <a:endParaRPr sz="5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200"/>
              <a:t>Méndez Ramírez, M., &amp; Hernández García, J. (2023). </a:t>
            </a:r>
            <a:r>
              <a:rPr i="1" lang="es-CL" sz="5200"/>
              <a:t>Aplicación de la inteligencia artificial para la traducción automática de lengua de señas</a:t>
            </a:r>
            <a:r>
              <a:rPr lang="es-CL" sz="5200"/>
              <a:t>. Revista RIMI, 5(1), 1–14. </a:t>
            </a:r>
            <a:r>
              <a:rPr lang="es-CL" sz="5200" u="sng">
                <a:solidFill>
                  <a:schemeClr val="hlink"/>
                </a:solidFill>
                <a:hlinkClick r:id="rId5"/>
              </a:rPr>
              <a:t>https://revistarimi.net/index.php/home/article/view/116/128</a:t>
            </a:r>
            <a:endParaRPr sz="5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200"/>
              <a:t>Jiménez Hernández, F. J., &amp; Ramírez Moreno, A. (2022). </a:t>
            </a:r>
            <a:r>
              <a:rPr i="1" lang="es-CL" sz="5200"/>
              <a:t>Reconocimiento de señas de la lengua de señas mexicana mediante técnicas de Machine Learning</a:t>
            </a:r>
            <a:r>
              <a:rPr lang="es-CL" sz="5200"/>
              <a:t>. Revista Xikua, 6(11), 1–15. </a:t>
            </a:r>
            <a:r>
              <a:rPr lang="es-CL" sz="5200" u="sng">
                <a:solidFill>
                  <a:schemeClr val="hlink"/>
                </a:solidFill>
                <a:hlinkClick r:id="rId6"/>
              </a:rPr>
              <a:t>https://repository.uaeh.edu.mx/revistas/index.php/xikua/article/view/12696/11487</a:t>
            </a:r>
            <a:endParaRPr sz="5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5200"/>
              <a:t>Pérez Ríos, D. (2020). </a:t>
            </a:r>
            <a:r>
              <a:rPr i="1" lang="es-CL" sz="5200"/>
              <a:t>Ajuste de hiperparámetros de una red neuronal convolucional para el reconocimiento de lengua de señas</a:t>
            </a:r>
            <a:r>
              <a:rPr lang="es-CL" sz="5200"/>
              <a:t>. Revista Conciencia Tecnológica, 3(6), 1–9.</a:t>
            </a:r>
            <a:r>
              <a:rPr lang="es-CL" sz="5200">
                <a:uFill>
                  <a:noFill/>
                </a:uFill>
                <a:hlinkClick r:id="rId7"/>
              </a:rPr>
              <a:t> </a:t>
            </a:r>
            <a:r>
              <a:rPr lang="es-CL" sz="5200" u="sng">
                <a:solidFill>
                  <a:schemeClr val="hlink"/>
                </a:solidFill>
                <a:hlinkClick r:id="rId8"/>
              </a:rPr>
              <a:t>http://revistas.sena.edu.co/index.php/conciencia/article/download/3926/4602</a:t>
            </a:r>
            <a:endParaRPr sz="5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5200"/>
              <a:t>Pardo Herrera, L. (s.f.). </a:t>
            </a:r>
            <a:r>
              <a:rPr i="1" lang="es-CL" sz="5200"/>
              <a:t>Deep learning y estimación de la postura de la mano</a:t>
            </a:r>
            <a:r>
              <a:rPr lang="es-CL" sz="5200"/>
              <a:t>. LinkedIn.</a:t>
            </a:r>
            <a:r>
              <a:rPr lang="es-CL" sz="5200">
                <a:uFill>
                  <a:noFill/>
                </a:uFill>
                <a:hlinkClick r:id="rId9"/>
              </a:rPr>
              <a:t> </a:t>
            </a:r>
            <a:r>
              <a:rPr lang="es-CL" sz="5200" u="sng">
                <a:solidFill>
                  <a:schemeClr val="hlink"/>
                </a:solidFill>
                <a:hlinkClick r:id="rId10"/>
              </a:rPr>
              <a:t>https://es.linkedin.com/pulse/deep-learning-estimaci%C3%B3n-de-postura-la-mano-pardo-herrera</a:t>
            </a:r>
            <a:endParaRPr sz="5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5200"/>
              <a:t>Bazarevsky, V., &amp; Zhang, F. (2019, August 19). </a:t>
            </a:r>
            <a:r>
              <a:rPr i="1" lang="es-CL" sz="5200"/>
              <a:t>On-device, real-time hand tracking with MediaPipe</a:t>
            </a:r>
            <a:r>
              <a:rPr lang="es-CL" sz="5200"/>
              <a:t>. Google AI Blog.</a:t>
            </a:r>
            <a:r>
              <a:rPr lang="es-CL" sz="5200">
                <a:uFill>
                  <a:noFill/>
                </a:uFill>
                <a:hlinkClick r:id="rId11"/>
              </a:rPr>
              <a:t> </a:t>
            </a:r>
            <a:r>
              <a:rPr lang="es-CL" sz="5200" u="sng">
                <a:solidFill>
                  <a:schemeClr val="hlink"/>
                </a:solidFill>
                <a:hlinkClick r:id="rId12"/>
              </a:rPr>
              <a:t>https://research.google/blog/on-device-real-time-hand-tracking-with-mediapipe/</a:t>
            </a:r>
            <a:endParaRPr sz="5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74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scuelaIT Duoc UC - Escuela de Informática y Telecomunicaciones Duoc UC - Duoc  UC | LinkedIn" id="139" name="Google Shape;139;g3673063d5d4_0_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673063d5d4_0_3"/>
          <p:cNvSpPr txBox="1"/>
          <p:nvPr/>
        </p:nvSpPr>
        <p:spPr>
          <a:xfrm>
            <a:off x="47175" y="95656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del arte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g3673063d5d4_0_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g3673063d5d4_0_3"/>
          <p:cNvSpPr txBox="1"/>
          <p:nvPr/>
        </p:nvSpPr>
        <p:spPr>
          <a:xfrm>
            <a:off x="114300" y="319722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143" name="Google Shape;143;g3673063d5d4_0_3"/>
          <p:cNvSpPr txBox="1"/>
          <p:nvPr/>
        </p:nvSpPr>
        <p:spPr>
          <a:xfrm>
            <a:off x="478475" y="867225"/>
            <a:ext cx="574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“HandTak AI”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42200" y="9929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4"/>
          <p:cNvSpPr txBox="1"/>
          <p:nvPr/>
        </p:nvSpPr>
        <p:spPr>
          <a:xfrm>
            <a:off x="1" y="39417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01478" y="1750069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Diseñar, desarrollar e implementar un sistema integral de traducción en tiempo real de audio a lenguaje de señas chileno, utilizando inteligencia artificial, procesamiento de lenguaje natural y animación de avatar, logrando una precisión de al menos un 90% y una latencia inferior a 3 segundos en entornos controlados, en un plazo de 12 meses(*), para fomentar la inclusión social y mejorar la accesibilidad comunicacional.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14514" y="4728782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Implementar captura y transmisión de movimientos (MediaPipe + Python) con latencia &lt; 200 ms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Configurar avatar 3D en Unity con ≥ 90% de fidelidad en movimientos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Aplicar suavizado para animaciones naturales, reduciendo errores ≥ 80%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Desarrollar calibración automática para adaptar el avatar a distintos usuarios 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Integrar el sistema completo en Unity, con sincronización de video con ≥ 85% satisfacción de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-78875" y="10632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61" name="Google Shape;16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5"/>
          <p:cNvSpPr txBox="1"/>
          <p:nvPr/>
        </p:nvSpPr>
        <p:spPr>
          <a:xfrm>
            <a:off x="278442" y="415560"/>
            <a:ext cx="6094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graphicFrame>
        <p:nvGraphicFramePr>
          <p:cNvPr id="163" name="Google Shape;163;p5"/>
          <p:cNvGraphicFramePr/>
          <p:nvPr/>
        </p:nvGraphicFramePr>
        <p:xfrm>
          <a:off x="952500" y="178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{2329A938-1503-4761-8088-E6A49122B0B5}</a:tableStyleId>
              </a:tblPr>
              <a:tblGrid>
                <a:gridCol w="5143500"/>
                <a:gridCol w="5143500"/>
              </a:tblGrid>
              <a:tr h="63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Aspecto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</a:t>
                      </a:r>
                      <a:endParaRPr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6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del avatar</a:t>
                      </a:r>
                      <a:endParaRPr b="1"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prototipo contempla un avatar no humano, de características básicas, debido a las restricciones de tiempo y recursos disponibles durante el desarrollo.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Ejecución de movimientos</a:t>
                      </a:r>
                      <a:endParaRPr b="1"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movimientos del avatar serán generados a partir de videos previamente seleccionados, lo que limita la funcionalidad en tiempo real.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Uso de contexto controlado</a:t>
                      </a:r>
                      <a:endParaRPr b="1" sz="2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esta fase del proyecto, no se implementará interacción o traducción en vivo, restringiendo su uso a contextos controlados.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D9D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</a:tr>
              <a:tr h="6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Limitaciones en los datos de entrenamiento</a:t>
                      </a:r>
                      <a:endParaRPr b="1"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proyectaba utilizar las imágenes del Diccionario de Lengua de Señas Chilena elaborado por el Ministerio; sin embargo, dichas imágenes no resultaron adecuadas para el entrenamiento del modelo de inteligencia artificial.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105675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6"/>
          <p:cNvSpPr txBox="1"/>
          <p:nvPr/>
        </p:nvSpPr>
        <p:spPr>
          <a:xfrm>
            <a:off x="105673" y="388695"/>
            <a:ext cx="6094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172" name="Google Shape;17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450" y="1793511"/>
            <a:ext cx="7575658" cy="447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 txBox="1"/>
          <p:nvPr/>
        </p:nvSpPr>
        <p:spPr>
          <a:xfrm>
            <a:off x="60626" y="703281"/>
            <a:ext cx="12192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80" name="Google Shape;180;p7"/>
          <p:cNvGraphicFramePr/>
          <p:nvPr/>
        </p:nvGraphicFramePr>
        <p:xfrm>
          <a:off x="1038909" y="1454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{F840E4E5-54F7-46FB-879F-57860792AB4D}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 hMerge="1"/>
                <a:tc hMerge="1"/>
                <a:tc hMerge="1"/>
              </a:tr>
              <a:tr h="207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0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 del proyecto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Estudio de viabilidad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Elaboración</a:t>
                      </a: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EDT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</a:t>
                      </a: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riesgo y alcance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Elaborar el modelo de procesos de negocio actual (AS-IS)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Diseñar el modelo de procesos futuros (TO-BE)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Elaborar diagramas UML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7"/>
          <p:cNvSpPr txBox="1"/>
          <p:nvPr/>
        </p:nvSpPr>
        <p:spPr>
          <a:xfrm>
            <a:off x="114300" y="388695"/>
            <a:ext cx="6094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g369984b17f3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69984b17f3_0_14"/>
          <p:cNvSpPr txBox="1"/>
          <p:nvPr/>
        </p:nvSpPr>
        <p:spPr>
          <a:xfrm>
            <a:off x="60626" y="8029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369984b17f3_0_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89" name="Google Shape;189;g369984b17f3_0_14"/>
          <p:cNvGraphicFramePr/>
          <p:nvPr/>
        </p:nvGraphicFramePr>
        <p:xfrm>
          <a:off x="1136921" y="1423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{F840E4E5-54F7-46FB-879F-57860792AB4D}</a:tableStyleId>
              </a:tblPr>
              <a:tblGrid>
                <a:gridCol w="1402550"/>
                <a:gridCol w="337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 hMerge="1"/>
                <a:tc hMerge="1"/>
                <a:tc hMerge="1"/>
              </a:tr>
              <a:tr h="1733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criterios de calidad para módulos del sistema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entrevistas y sesiones con usuarios clave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preliminar del avatar 3D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con módulo de procesamiento de lenguaje natural (PLN)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Evaluación con intérpretes certificados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unitarias del avatar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Evaluación con intérpretes certificados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g369984b17f3_0_14"/>
          <p:cNvSpPr txBox="1"/>
          <p:nvPr/>
        </p:nvSpPr>
        <p:spPr>
          <a:xfrm>
            <a:off x="114300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g369a9c5e90d_5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69a9c5e90d_5_2"/>
          <p:cNvSpPr txBox="1"/>
          <p:nvPr/>
        </p:nvSpPr>
        <p:spPr>
          <a:xfrm>
            <a:off x="0" y="685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Canal 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g369a9c5e90d_5_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g369a9c5e90d_5_2"/>
          <p:cNvSpPr txBox="1"/>
          <p:nvPr/>
        </p:nvSpPr>
        <p:spPr>
          <a:xfrm>
            <a:off x="105673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199" name="Google Shape;199;g369a9c5e90d_5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9475" y="1404500"/>
            <a:ext cx="8095549" cy="53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69a9c5e90d_5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7900" y="1331825"/>
            <a:ext cx="8095549" cy="53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5" name="Google Shape;205;g36b3b709a63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6b3b709a63_0_5"/>
          <p:cNvSpPr txBox="1"/>
          <p:nvPr/>
        </p:nvSpPr>
        <p:spPr>
          <a:xfrm>
            <a:off x="0" y="685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Canal 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6b3b709a63_0_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g36b3b709a63_0_5"/>
          <p:cNvSpPr txBox="1"/>
          <p:nvPr/>
        </p:nvSpPr>
        <p:spPr>
          <a:xfrm>
            <a:off x="105673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209" name="Google Shape;209;g36b3b709a63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4313" y="1331830"/>
            <a:ext cx="9483366" cy="522137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6b3b709a63_0_5"/>
          <p:cNvSpPr/>
          <p:nvPr/>
        </p:nvSpPr>
        <p:spPr>
          <a:xfrm>
            <a:off x="1274925" y="4130850"/>
            <a:ext cx="4925400" cy="2506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6b3b709a63_0_5"/>
          <p:cNvSpPr txBox="1"/>
          <p:nvPr/>
        </p:nvSpPr>
        <p:spPr>
          <a:xfrm>
            <a:off x="638375" y="3155400"/>
            <a:ext cx="1050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cambiar des´pues recuadro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g369a9c5e90d_2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69a9c5e90d_2_5"/>
          <p:cNvSpPr txBox="1"/>
          <p:nvPr/>
        </p:nvSpPr>
        <p:spPr>
          <a:xfrm>
            <a:off x="-53275" y="531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g369a9c5e90d_2_5"/>
          <p:cNvCxnSpPr/>
          <p:nvPr/>
        </p:nvCxnSpPr>
        <p:spPr>
          <a:xfrm>
            <a:off x="0" y="758027"/>
            <a:ext cx="3637200" cy="1560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g369a9c5e90d_2_5"/>
          <p:cNvSpPr txBox="1"/>
          <p:nvPr/>
        </p:nvSpPr>
        <p:spPr>
          <a:xfrm>
            <a:off x="166058" y="35348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220" name="Google Shape;220;g369a9c5e90d_2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2863" y="1077574"/>
            <a:ext cx="7346274" cy="566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5" name="Google Shape;225;g369a9c5e90d_5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69a9c5e90d_5_28"/>
          <p:cNvSpPr txBox="1"/>
          <p:nvPr/>
        </p:nvSpPr>
        <p:spPr>
          <a:xfrm>
            <a:off x="-53275" y="531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g369a9c5e90d_5_2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g369a9c5e90d_5_28"/>
          <p:cNvSpPr txBox="1"/>
          <p:nvPr/>
        </p:nvSpPr>
        <p:spPr>
          <a:xfrm>
            <a:off x="166058" y="35348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229" name="Google Shape;229;g369a9c5e90d_5_28" title="Captura de pantalla 2025-06-24 1705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00" y="1114025"/>
            <a:ext cx="6913825" cy="527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4" name="Google Shape;234;g3673278f25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673278f257_0_1"/>
          <p:cNvSpPr txBox="1"/>
          <p:nvPr/>
        </p:nvSpPr>
        <p:spPr>
          <a:xfrm>
            <a:off x="-67925" y="3534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hardware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g3673278f257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7" name="Google Shape;237;g3673278f257_0_1"/>
          <p:cNvSpPr txBox="1"/>
          <p:nvPr/>
        </p:nvSpPr>
        <p:spPr>
          <a:xfrm>
            <a:off x="166058" y="35348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238" name="Google Shape;238;g3673278f257_0_1" title="Captura de pantalla 2025-06-24 1810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233" y="992900"/>
            <a:ext cx="9131593" cy="54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3" name="Google Shape;243;g369a9c5e90d_5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69a9c5e90d_5_12"/>
          <p:cNvSpPr txBox="1"/>
          <p:nvPr/>
        </p:nvSpPr>
        <p:spPr>
          <a:xfrm>
            <a:off x="-67925" y="3534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hardware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g369a9c5e90d_5_1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g369a9c5e90d_5_12"/>
          <p:cNvSpPr txBox="1"/>
          <p:nvPr/>
        </p:nvSpPr>
        <p:spPr>
          <a:xfrm>
            <a:off x="166058" y="35348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pic>
        <p:nvPicPr>
          <p:cNvPr id="247" name="Google Shape;247;g369a9c5e90d_5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250" y="992900"/>
            <a:ext cx="9217550" cy="549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69a9c5e90d_5_12"/>
          <p:cNvSpPr txBox="1"/>
          <p:nvPr/>
        </p:nvSpPr>
        <p:spPr>
          <a:xfrm>
            <a:off x="2984775" y="3742775"/>
            <a:ext cx="3141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&gt;&gt;Hardware&lt;&lt; Cliente local (PC-MOVIL)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60650" y="790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255" name="Google Shape;25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9"/>
          <p:cNvSpPr txBox="1"/>
          <p:nvPr/>
        </p:nvSpPr>
        <p:spPr>
          <a:xfrm>
            <a:off x="97047" y="388695"/>
            <a:ext cx="6094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452100" y="1513500"/>
            <a:ext cx="11739900" cy="4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</a:rPr>
              <a:t>Estructura General de los Datos: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El sistema utiliza un repositorio no relacional de un archivo </a:t>
            </a:r>
            <a:r>
              <a:rPr lang="es-CL">
                <a:solidFill>
                  <a:schemeClr val="dk1"/>
                </a:solidFill>
              </a:rPr>
              <a:t>único</a:t>
            </a:r>
            <a:r>
              <a:rPr lang="es-CL">
                <a:solidFill>
                  <a:schemeClr val="dk1"/>
                </a:solidFill>
              </a:rPr>
              <a:t> en </a:t>
            </a:r>
            <a:r>
              <a:rPr b="1" lang="es-CL">
                <a:solidFill>
                  <a:schemeClr val="dk1"/>
                </a:solidFill>
              </a:rPr>
              <a:t>formato JSON</a:t>
            </a:r>
            <a:r>
              <a:rPr lang="es-CL">
                <a:solidFill>
                  <a:schemeClr val="dk1"/>
                </a:solidFill>
              </a:rPr>
              <a:t> para almacenar y transmitir datos de cada frame (fotograma).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Cada frame contiene: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"palabra_predicha"</a:t>
            </a:r>
            <a:r>
              <a:rPr lang="es-CL">
                <a:solidFill>
                  <a:schemeClr val="dk1"/>
                </a:solidFill>
              </a:rPr>
              <a:t> → texto asociado (opcional)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"fotograma"</a:t>
            </a:r>
            <a:r>
              <a:rPr lang="es-CL">
                <a:solidFill>
                  <a:schemeClr val="dk1"/>
                </a:solidFill>
              </a:rPr>
              <a:t> → número del frame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"body"</a:t>
            </a:r>
            <a:r>
              <a:rPr lang="es-CL">
                <a:solidFill>
                  <a:schemeClr val="dk1"/>
                </a:solidFill>
              </a:rPr>
              <a:t> → lista de puntos clave (landmarks) del cuerpo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"hands"</a:t>
            </a:r>
            <a:r>
              <a:rPr lang="es-CL">
                <a:solidFill>
                  <a:schemeClr val="dk1"/>
                </a:solidFill>
              </a:rPr>
              <a:t> → lista de puntos clave (landmarks) de las manos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258" name="Google Shape;25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950" y="2639287"/>
            <a:ext cx="3850200" cy="258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3" name="Google Shape;263;g369a9c5e90d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69a9c5e90d_0_58"/>
          <p:cNvSpPr txBox="1"/>
          <p:nvPr/>
        </p:nvSpPr>
        <p:spPr>
          <a:xfrm>
            <a:off x="60650" y="790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265" name="Google Shape;265;g369a9c5e90d_0_5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6" name="Google Shape;266;g369a9c5e90d_0_58"/>
          <p:cNvSpPr txBox="1"/>
          <p:nvPr/>
        </p:nvSpPr>
        <p:spPr>
          <a:xfrm>
            <a:off x="97047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267" name="Google Shape;267;g369a9c5e90d_0_58"/>
          <p:cNvSpPr txBox="1"/>
          <p:nvPr/>
        </p:nvSpPr>
        <p:spPr>
          <a:xfrm>
            <a:off x="452100" y="1513500"/>
            <a:ext cx="11739900" cy="43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Estructura del bloque </a:t>
            </a:r>
            <a:r>
              <a:rPr b="1"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1" lang="es-CL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Lista de landmarks corporales (33 puntos)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Cada elemento: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CL">
                <a:solidFill>
                  <a:schemeClr val="dk1"/>
                </a:solidFill>
              </a:rPr>
              <a:t>: número identificador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s-CL">
                <a:solidFill>
                  <a:schemeClr val="dk1"/>
                </a:solidFill>
              </a:rPr>
              <a:t>: nombre del punto (ej: NOSE, LEFT_SHOULDER)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x, y, z</a:t>
            </a:r>
            <a:r>
              <a:rPr lang="es-CL">
                <a:solidFill>
                  <a:schemeClr val="dk1"/>
                </a:solidFill>
              </a:rPr>
              <a:t>: coordenadas normalizadas en 3D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268" name="Google Shape;268;g369a9c5e90d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9325" y="5029075"/>
            <a:ext cx="7934325" cy="13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3" name="Google Shape;273;g369a9c5e90d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1502" y="214575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69a9c5e90d_0_71"/>
          <p:cNvSpPr txBox="1"/>
          <p:nvPr/>
        </p:nvSpPr>
        <p:spPr>
          <a:xfrm>
            <a:off x="0" y="7978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275" name="Google Shape;275;g369a9c5e90d_0_71"/>
          <p:cNvCxnSpPr/>
          <p:nvPr/>
        </p:nvCxnSpPr>
        <p:spPr>
          <a:xfrm>
            <a:off x="-60650" y="765052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g369a9c5e90d_0_71"/>
          <p:cNvSpPr txBox="1"/>
          <p:nvPr/>
        </p:nvSpPr>
        <p:spPr>
          <a:xfrm>
            <a:off x="36397" y="395720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277" name="Google Shape;277;g369a9c5e90d_0_71"/>
          <p:cNvSpPr txBox="1"/>
          <p:nvPr/>
        </p:nvSpPr>
        <p:spPr>
          <a:xfrm>
            <a:off x="391450" y="1520525"/>
            <a:ext cx="11739900" cy="5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Estructura del bloque </a:t>
            </a:r>
            <a:r>
              <a:rPr b="1"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hands</a:t>
            </a:r>
            <a:r>
              <a:rPr b="1" lang="es-CL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Lista de landmarks de manos (21 puntos por mano)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CL">
                <a:solidFill>
                  <a:schemeClr val="dk1"/>
                </a:solidFill>
              </a:rPr>
              <a:t>Cada elemento: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hand</a:t>
            </a:r>
            <a:r>
              <a:rPr lang="es-CL">
                <a:solidFill>
                  <a:schemeClr val="dk1"/>
                </a:solidFill>
              </a:rPr>
              <a:t>: "Left" o "Right"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landmark</a:t>
            </a:r>
            <a:r>
              <a:rPr lang="es-CL">
                <a:solidFill>
                  <a:schemeClr val="dk1"/>
                </a:solidFill>
              </a:rPr>
              <a:t>: número identificador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s-CL">
                <a:solidFill>
                  <a:schemeClr val="dk1"/>
                </a:solidFill>
              </a:rPr>
              <a:t>: nombre del punto (ej: WRIST, THUMB_TIP)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x, y, z</a:t>
            </a:r>
            <a:r>
              <a:rPr lang="es-CL">
                <a:solidFill>
                  <a:schemeClr val="dk1"/>
                </a:solidFill>
              </a:rPr>
              <a:t>: coordenadas normalizadas en 3D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278" name="Google Shape;278;g369a9c5e90d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8575" y="5276125"/>
            <a:ext cx="10391774" cy="10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3" name="Google Shape;2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285" name="Google Shape;285;p10"/>
          <p:cNvSpPr txBox="1"/>
          <p:nvPr/>
        </p:nvSpPr>
        <p:spPr>
          <a:xfrm>
            <a:off x="834700" y="944263"/>
            <a:ext cx="101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86" name="Google Shape;28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87" name="Google Shape;28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500" y="1571025"/>
            <a:ext cx="1253325" cy="125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9825" y="3507351"/>
            <a:ext cx="2866450" cy="10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550" y="4269400"/>
            <a:ext cx="4186549" cy="11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3447" y="1776989"/>
            <a:ext cx="4467199" cy="134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37075" y="4088250"/>
            <a:ext cx="1765474" cy="217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47750" y="1826386"/>
            <a:ext cx="1880274" cy="188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71675" y="5199200"/>
            <a:ext cx="2121250" cy="11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8" name="Google Shape;2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97047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05" name="Google Shape;3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 txBox="1"/>
          <p:nvPr/>
        </p:nvSpPr>
        <p:spPr>
          <a:xfrm>
            <a:off x="67351" y="8527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97047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810350" y="3623700"/>
            <a:ext cx="4694700" cy="1174500"/>
          </a:xfrm>
          <a:prstGeom prst="flowChartAlternateProcess">
            <a:avLst/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 de nuevas tecnologías:</a:t>
            </a:r>
            <a:b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incorporaron conocimientos sobre herramientas y tecnologías emergentes, fortaleciendo la capacidad de adaptación a distintos entornos de trabajo.</a:t>
            </a:r>
            <a:endParaRPr sz="1500"/>
          </a:p>
        </p:txBody>
      </p:sp>
      <p:sp>
        <p:nvSpPr>
          <p:cNvPr id="309" name="Google Shape;309;p12"/>
          <p:cNvSpPr/>
          <p:nvPr/>
        </p:nvSpPr>
        <p:spPr>
          <a:xfrm>
            <a:off x="810350" y="5173000"/>
            <a:ext cx="4694700" cy="1174500"/>
          </a:xfrm>
          <a:prstGeom prst="flowChartAlternateProcess">
            <a:avLst/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documental de proyectos informáticos:</a:t>
            </a:r>
            <a:b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fortaleció la capacidad de organizar y documentar de manera sistemática cada etapa del desarrollo de un proyecto, desde su planificación inicial hasta su finalización.</a:t>
            </a:r>
            <a:endParaRPr sz="1500"/>
          </a:p>
        </p:txBody>
      </p:sp>
      <p:sp>
        <p:nvSpPr>
          <p:cNvPr id="310" name="Google Shape;310;p12"/>
          <p:cNvSpPr/>
          <p:nvPr/>
        </p:nvSpPr>
        <p:spPr>
          <a:xfrm>
            <a:off x="6071450" y="5173000"/>
            <a:ext cx="4694700" cy="1174500"/>
          </a:xfrm>
          <a:prstGeom prst="flowChartAlternateProcess">
            <a:avLst/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de metodologías estructuradas:</a:t>
            </a:r>
            <a:b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comprendió la importancia de seguir metodologías de desarrollo para asegurar el orden, la trazabilidad y la calidad del proyecto.</a:t>
            </a:r>
            <a:endParaRPr sz="1500"/>
          </a:p>
        </p:txBody>
      </p:sp>
      <p:sp>
        <p:nvSpPr>
          <p:cNvPr id="311" name="Google Shape;311;p12"/>
          <p:cNvSpPr/>
          <p:nvPr/>
        </p:nvSpPr>
        <p:spPr>
          <a:xfrm>
            <a:off x="6071325" y="3623700"/>
            <a:ext cx="4694700" cy="1174500"/>
          </a:xfrm>
          <a:prstGeom prst="flowChartAlternateProcess">
            <a:avLst/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el trabajo colaborativo:</a:t>
            </a:r>
            <a:b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fortalecieron habilidades para trabajar en equipo, integrando distintos roles y responsabilidades dentro del ciclo de vida de un proyecto informático.</a:t>
            </a:r>
            <a:endParaRPr sz="1500"/>
          </a:p>
        </p:txBody>
      </p:sp>
      <p:sp>
        <p:nvSpPr>
          <p:cNvPr id="312" name="Google Shape;312;p12"/>
          <p:cNvSpPr/>
          <p:nvPr/>
        </p:nvSpPr>
        <p:spPr>
          <a:xfrm>
            <a:off x="810350" y="1968700"/>
            <a:ext cx="9955800" cy="13086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="1" lang="es-CL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s-CL" sz="1600">
                <a:latin typeface="Calibri"/>
                <a:ea typeface="Calibri"/>
                <a:cs typeface="Calibri"/>
                <a:sym typeface="Calibri"/>
              </a:rPr>
              <a:t>o principal resultado, se logró completar el prototipo funcional del avatar, el cual fue capaz de interpretar correctamente las coordenadas proporcionadas por el grupo uno. A pesar del desconocimiento inicial sobre algunas de las tecnologías utilizadas, el equipo logró desarrollar satisfactoriamente el proyecto dentro de los plazos establecidos.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17" name="Google Shape;3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3"/>
          <p:cNvSpPr txBox="1"/>
          <p:nvPr/>
        </p:nvSpPr>
        <p:spPr>
          <a:xfrm>
            <a:off x="175150" y="801650"/>
            <a:ext cx="11241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700"/>
          </a:p>
        </p:txBody>
      </p:sp>
      <p:sp>
        <p:nvSpPr>
          <p:cNvPr id="319" name="Google Shape;319;p13"/>
          <p:cNvSpPr txBox="1"/>
          <p:nvPr/>
        </p:nvSpPr>
        <p:spPr>
          <a:xfrm>
            <a:off x="97047" y="388695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“HandTalkAI”</a:t>
            </a:r>
            <a:endParaRPr/>
          </a:p>
        </p:txBody>
      </p:sp>
      <p:graphicFrame>
        <p:nvGraphicFramePr>
          <p:cNvPr id="320" name="Google Shape;320;p13"/>
          <p:cNvGraphicFramePr/>
          <p:nvPr/>
        </p:nvGraphicFramePr>
        <p:xfrm>
          <a:off x="1833150" y="14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{F840E4E5-54F7-46FB-879F-57860792AB4D}</a:tableStyleId>
              </a:tblPr>
              <a:tblGrid>
                <a:gridCol w="2743200"/>
                <a:gridCol w="5486400"/>
              </a:tblGrid>
              <a:tr h="62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Aspecto</a:t>
                      </a:r>
                      <a:endParaRPr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</a:t>
                      </a:r>
                      <a:endParaRPr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Capacitación técnica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formación complementaria fue clave para superar brechas de conocimiento y avanzar con el desarrollo.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Herramientas adecuadas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falta de herramientas afectó la calidad; es esencial prever los recursos técnicos necesarios desde el inicio.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Calidad del dataset</a:t>
                      </a:r>
                      <a:endParaRPr b="1"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Datasets limitados impactaron el rendimiento del modelo; se recomienda asegurar datos representativos y de alta fidelidad.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del tiempo</a:t>
                      </a:r>
                      <a:endParaRPr b="1"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plazos acotados exigieron acotar el alcance; se sugiere una planificación más realista en proyectos complejos.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Comunicación constante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coordinación fluida entre equipo y tutores previene desalineaciones.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Flexibilidad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Adaptarse rápidamente a imprevistos fue fundamental para cumplir los objetivos.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25" name="Google Shape;3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